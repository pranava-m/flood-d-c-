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Slab-bold.fntdata"/><Relationship Id="rId18" Type="http://schemas.openxmlformats.org/officeDocument/2006/relationships/font" Target="fonts/RobotoSlab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365507454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365507454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65507454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65507454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365507454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365507454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365507454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365507454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6550745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6550745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65507454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365507454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f34a04d3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f34a04d3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f34a04d3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f34a04d3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65507454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365507454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65507454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65507454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f410a25a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f410a25a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/>
        </p:nvSpPr>
        <p:spPr>
          <a:xfrm>
            <a:off x="1967250" y="955725"/>
            <a:ext cx="5703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Flood - IT</a:t>
            </a:r>
            <a:endParaRPr b="1" sz="5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949125" y="3336800"/>
            <a:ext cx="52509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“Where colors spread fast and smart choices matter more.”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428150" y="321975"/>
            <a:ext cx="72066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Goal and Rules to play.</a:t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00575" y="1553250"/>
            <a:ext cx="55317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Aim:-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Your goal is to </a:t>
            </a:r>
            <a:r>
              <a:rPr b="1" lang="en-GB" sz="1300">
                <a:solidFill>
                  <a:schemeClr val="dk1"/>
                </a:solidFill>
              </a:rPr>
              <a:t>fill the entire board with a single color</a:t>
            </a:r>
            <a:r>
              <a:rPr lang="en-GB" sz="1300">
                <a:solidFill>
                  <a:schemeClr val="dk1"/>
                </a:solidFill>
              </a:rPr>
              <a:t> in the </a:t>
            </a:r>
            <a:r>
              <a:rPr b="1" lang="en-GB" sz="1300">
                <a:solidFill>
                  <a:schemeClr val="dk1"/>
                </a:solidFill>
              </a:rPr>
              <a:t>fewest possible moves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Rules to play:-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game always starts from the </a:t>
            </a:r>
            <a:r>
              <a:rPr b="1" lang="en-GB" sz="1300">
                <a:solidFill>
                  <a:schemeClr val="dk1"/>
                </a:solidFill>
              </a:rPr>
              <a:t>top-left cell (0,0)</a:t>
            </a:r>
            <a:r>
              <a:rPr lang="en-GB" sz="1300">
                <a:solidFill>
                  <a:schemeClr val="dk1"/>
                </a:solidFill>
              </a:rPr>
              <a:t>. Every move changes the color of this starting region  spreads (floods) to all connected cells of the same color.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525" y="3130350"/>
            <a:ext cx="1468775" cy="14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526" y="1349376"/>
            <a:ext cx="1393475" cy="13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latin typeface="Arial"/>
                <a:ea typeface="Arial"/>
                <a:cs typeface="Arial"/>
                <a:sym typeface="Arial"/>
              </a:rPr>
              <a:t>What is Divide &amp; Conquer?</a:t>
            </a:r>
            <a:endParaRPr sz="50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87900" y="1489825"/>
            <a:ext cx="54054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Divide the problem into smaller subproblems</a:t>
            </a:r>
            <a:endParaRPr b="1" sz="17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if (r1 == r2 &amp;&amp; c1 == c2)</a:t>
            </a:r>
            <a:br>
              <a:rPr lang="en-GB"/>
            </a:br>
            <a:r>
              <a:rPr lang="en-GB"/>
              <a:t>Each subproblem should have atleast one cell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Solve each subproblem recursively </a:t>
            </a:r>
            <a:endParaRPr b="1" sz="17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Frequency count of the particular color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b="1" lang="en-GB" sz="1700"/>
              <a:t> Combine the results</a:t>
            </a:r>
            <a:endParaRPr b="1" sz="1700"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050" y="1519688"/>
            <a:ext cx="3161925" cy="21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Divide &amp; Conquer Concept</a:t>
            </a:r>
            <a:endParaRPr b="1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25" y="2700275"/>
            <a:ext cx="2312350" cy="19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17950"/>
            <a:ext cx="1313025" cy="8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5475" y="1517950"/>
            <a:ext cx="1313025" cy="8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2125" y="2712650"/>
            <a:ext cx="1313025" cy="747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9375" y="2712650"/>
            <a:ext cx="1245225" cy="7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476650" y="1442650"/>
            <a:ext cx="19581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1.Initial  grid.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647100" y="1615850"/>
            <a:ext cx="4518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q1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8225800" y="1713750"/>
            <a:ext cx="6552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647100" y="2843350"/>
            <a:ext cx="5799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q3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225800" y="2843350"/>
            <a:ext cx="4518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q4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4572000" y="3634100"/>
            <a:ext cx="3441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Dividing into Subproblems</a:t>
            </a:r>
            <a:b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25" y="1353550"/>
            <a:ext cx="3916450" cy="15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1075" y="1402500"/>
            <a:ext cx="4078075" cy="14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1888" y="3385363"/>
            <a:ext cx="3916450" cy="14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0524" y="3368525"/>
            <a:ext cx="4090076" cy="14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76650" y="237725"/>
            <a:ext cx="50307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Solve each subproblem recursively </a:t>
            </a:r>
            <a:endParaRPr b="1"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25" y="1530550"/>
            <a:ext cx="3749575" cy="126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454050" y="192550"/>
            <a:ext cx="505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Combine the results</a:t>
            </a:r>
            <a:endParaRPr b="1"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/>
        </p:nvSpPr>
        <p:spPr>
          <a:xfrm>
            <a:off x="423925" y="177475"/>
            <a:ext cx="79074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to Get the Best color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84200" y="1322175"/>
            <a:ext cx="2997300" cy="3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 Step 1: </a:t>
            </a:r>
            <a:r>
              <a:rPr b="1" lang="en-GB" sz="1300">
                <a:solidFill>
                  <a:schemeClr val="dk1"/>
                </a:solidFill>
              </a:rPr>
              <a:t>Finding the current flood region and marking as true.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Get current color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→ </a:t>
            </a: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currentColor = grid[0][0]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Mark the current Flood region as true through Bfs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Finding the neighbor by incrementing the x and y coordinates 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If the connected </a:t>
            </a: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component</a:t>
            </a:r>
            <a: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color is same as old color then mark as true and store in the queue.</a:t>
            </a:r>
            <a:br>
              <a:rPr lang="en-GB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647075" y="2850800"/>
            <a:ext cx="4164600" cy="2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 Step 2: Finding the Neighbours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After computing the flood region then the region is passed to find the neighbouring components of the updated flood.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the neighbouring color </a:t>
            </a:r>
            <a:r>
              <a:rPr lang="en-GB" sz="1100">
                <a:solidFill>
                  <a:schemeClr val="dk1"/>
                </a:solidFill>
              </a:rPr>
              <a:t>should</a:t>
            </a:r>
            <a:r>
              <a:rPr lang="en-GB" sz="1100">
                <a:solidFill>
                  <a:schemeClr val="dk1"/>
                </a:solidFill>
              </a:rPr>
              <a:t> be inside the grid within the bounded part and should not match to the original flood color,then mark this color as true in an array.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Initially all the neighbour colors set as false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8449" y="682051"/>
            <a:ext cx="2254949" cy="22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87900" y="6689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Roboto"/>
                <a:ea typeface="Roboto"/>
                <a:cs typeface="Roboto"/>
                <a:sym typeface="Roboto"/>
              </a:rPr>
              <a:t>Greedy Strategy</a:t>
            </a:r>
            <a:endParaRPr b="1" sz="3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87900" y="1489825"/>
            <a:ext cx="3251700" cy="31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 Step 3: Pick the best color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• Initialize </a:t>
            </a:r>
            <a:r>
              <a:rPr lang="en-GB" sz="1100">
                <a:latin typeface="Roboto Mono"/>
                <a:ea typeface="Roboto Mono"/>
                <a:cs typeface="Roboto Mono"/>
                <a:sym typeface="Roboto Mono"/>
              </a:rPr>
              <a:t>best = -1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100">
                <a:latin typeface="Roboto Mono"/>
                <a:ea typeface="Roboto Mono"/>
                <a:cs typeface="Roboto Mono"/>
                <a:sym typeface="Roboto Mono"/>
              </a:rPr>
              <a:t>max = -1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• Check all neighbor colors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 → If color ≠ current and has higher count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 → Update best color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• If best found → return it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• Else check all colors globally</a:t>
            </a:r>
            <a:br>
              <a:rPr lang="en-GB" sz="1100"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latin typeface="Arial"/>
                <a:ea typeface="Arial"/>
                <a:cs typeface="Arial"/>
                <a:sym typeface="Arial"/>
              </a:rPr>
              <a:t>  → Pick color with maximum count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GB" sz="1100">
                <a:latin typeface="Arial"/>
                <a:ea typeface="Arial"/>
                <a:cs typeface="Arial"/>
                <a:sym typeface="Arial"/>
              </a:rPr>
              <a:t>• Return best color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3725" y="1489827"/>
            <a:ext cx="1961275" cy="19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 of Possible cases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7900" y="1489825"/>
            <a:ext cx="56313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Case 1 — Neighbour exists AND it is also global maximum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2871425" y="3650550"/>
            <a:ext cx="49251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2 – Neighbour exists but NOT global maximum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4999" y="1204374"/>
            <a:ext cx="1599025" cy="156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50" y="2993893"/>
            <a:ext cx="1599025" cy="1594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428150" y="131825"/>
            <a:ext cx="81063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1"/>
                </a:solidFill>
              </a:rPr>
              <a:t>Difference Between Previous Code &amp; Present Code</a:t>
            </a:r>
            <a:endParaRPr b="1" sz="4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84175" y="1322150"/>
            <a:ext cx="3486600" cy="3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6590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Previous Code (BFS + Bucket Sort)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26590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1) Breadth First Search (BFS)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Queue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Explores layer by layer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Good for minimum-step problems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Safe from deep recursion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4061250" y="2143400"/>
            <a:ext cx="29823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6590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2) Bucket Sort Idea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array like: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 colorCount[6]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index = one color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 frequency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Pick maximum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87900" y="691475"/>
            <a:ext cx="8756100" cy="68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40">
                <a:latin typeface="Arial"/>
                <a:ea typeface="Arial"/>
                <a:cs typeface="Arial"/>
                <a:sym typeface="Arial"/>
              </a:rPr>
              <a:t>Difference Between Previous Code &amp; Present Code</a:t>
            </a:r>
            <a:endParaRPr b="1" sz="417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/>
          </a:p>
        </p:txBody>
      </p:sp>
      <p:sp>
        <p:nvSpPr>
          <p:cNvPr id="147" name="Google Shape;147;p23"/>
          <p:cNvSpPr txBox="1"/>
          <p:nvPr/>
        </p:nvSpPr>
        <p:spPr>
          <a:xfrm>
            <a:off x="416400" y="1397450"/>
            <a:ext cx="2929500" cy="3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Current Code (BFS + Divide &amp; Conquer + Smart Greedy)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1) Breadth First Search (BFS)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Uses </a:t>
            </a:r>
            <a:r>
              <a:rPr b="1" lang="en-GB" sz="1100">
                <a:solidFill>
                  <a:schemeClr val="dk1"/>
                </a:solidFill>
              </a:rPr>
              <a:t>Queue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Explores level by level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Used for: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Flood Fill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Region detection (markRegionBFS)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Avoids deep recursion (safe for large grids)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3308175" y="2067700"/>
            <a:ext cx="27036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2) Divide &amp; Conquer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Grid is divided into </a:t>
            </a:r>
            <a:r>
              <a:rPr b="1" lang="en-GB" sz="1100">
                <a:solidFill>
                  <a:schemeClr val="dk1"/>
                </a:solidFill>
              </a:rPr>
              <a:t>4 quadrants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Top-Left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Top-Right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Bottom-Left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Bottom-Right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Solve each part recursively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Combine results to get total color frequency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Used in: </a:t>
            </a:r>
            <a:r>
              <a:rPr b="1" lang="en-GB" sz="1100">
                <a:solidFill>
                  <a:schemeClr val="dk1"/>
                </a:solidFill>
              </a:rPr>
              <a:t>countGlobalDC()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6275325" y="2067700"/>
            <a:ext cx="24927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3) Smart Greedy Algorithm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Selects the </a:t>
            </a:r>
            <a:r>
              <a:rPr b="1" lang="en-GB" sz="1100">
                <a:solidFill>
                  <a:schemeClr val="dk1"/>
                </a:solidFill>
              </a:rPr>
              <a:t>best color at each step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Based on: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Maximum frequency (from D&amp;C)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Must be a neighbor of current region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If best is invalid → try next best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Implemented using recursion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Used in: </a:t>
            </a:r>
            <a:r>
              <a:rPr b="1" lang="en-GB" sz="1100">
                <a:solidFill>
                  <a:schemeClr val="dk1"/>
                </a:solidFill>
              </a:rPr>
              <a:t>pickBestColorRecursive()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Advantages &amp; Disadvantages of current code and previous code</a:t>
            </a:r>
            <a:endParaRPr b="1"/>
          </a:p>
        </p:txBody>
      </p:sp>
      <p:sp>
        <p:nvSpPr>
          <p:cNvPr id="155" name="Google Shape;155;p24"/>
          <p:cNvSpPr txBox="1"/>
          <p:nvPr/>
        </p:nvSpPr>
        <p:spPr>
          <a:xfrm>
            <a:off x="387900" y="1495350"/>
            <a:ext cx="3230700" cy="26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Uses greedy approach to select best color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BFS helps find connected region accurately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Divide and Conquer counts colors efficiently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Considers both neighbor and global colors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Higher time complexity due to multiple algorithms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Complex logic, harder to understand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Not fully optimized for large grids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4874625" y="1495350"/>
            <a:ext cx="3464100" cy="30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Faster execution with optimized Divide &amp; Conquer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Focuses only on boundary cells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Avoids unnecessary full grid traversal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Stops recursion early (optimization)</a:t>
            </a:r>
            <a:b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• Works well for larger grid sizes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Does not use greedy strategy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Decisions are short-term (not global best)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Boundary logic is complex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May miss optimal moves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